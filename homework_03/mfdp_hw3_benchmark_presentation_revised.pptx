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B49"/>
                </a:solidFill>
              </a:defRPr>
            </a:pPr>
            <a:r>
              <a:t>Бенчмаркинг ВКС-парсера для корпоративных ассистентов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Цель: определить продуктовые стандарты и бенчмарки через анализ конкурентов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5303520" cy="1417320"/>
          </a:xfrm>
          <a:prstGeom prst="roundRect">
            <a:avLst/>
          </a:prstGeom>
          <a:solidFill>
            <a:srgbClr val="FFF7D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099816"/>
            <a:ext cx="497433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Контекст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Я работаю в государственной компании, где есть ограничения на использование стороннего софта и внешних SaaS-сервисов.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971800"/>
            <a:ext cx="5212080" cy="1417320"/>
          </a:xfrm>
          <a:prstGeom prst="roundRect">
            <a:avLst/>
          </a:prstGeom>
          <a:solidFill>
            <a:srgbClr val="E2F4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3099816"/>
            <a:ext cx="488289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Главное требование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Записи ВКС, транскрипты и извлечённые факты должны обрабатываться во внутреннем контуре.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Проблема, ЦА и целевой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t>Сначала фиксируем проблему, иначе сравнение конкурентов становится случайным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520440" cy="1874519"/>
          </a:xfrm>
          <a:prstGeom prst="roundRect">
            <a:avLst/>
          </a:prstGeom>
          <a:solidFill>
            <a:srgbClr val="D9EA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45336"/>
            <a:ext cx="3191256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Целевая аудитория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Сотрудники госкомпании и крупных организаций, которые работают в закрытом контуре и наполняют внутренние базы знаний.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7D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545336"/>
            <a:ext cx="3191256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Проблема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Решения, поручения, ответственные, сроки и контекст ВКС остаются в записях/протоколах и не попадают в структурированную БД ассистента.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417320"/>
            <a:ext cx="3520440" cy="1874519"/>
          </a:xfrm>
          <a:prstGeom prst="roundRect">
            <a:avLst/>
          </a:prstGeom>
          <a:solidFill>
            <a:srgbClr val="E2F4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545336"/>
            <a:ext cx="3191256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Сценарий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Запись ВКС → транскрипт → структурированные факты → проверка человеком → загрузка в БД корпоративного ассистента.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607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Главный результат продукта — не просто мемо, а проверяемые данные для корпоративного ассистента.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Формат результата: structured JSON/таблица + человекочитаемое мемо для контроля.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Критерий допустимости: ноль внешних передач аудио, транскриптов и результатов.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Кого сравниваем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t>Деление на прямых, косвенных конкурентов и альтернативу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2057400"/>
          </a:xfrm>
          <a:prstGeom prst="roundRect">
            <a:avLst/>
          </a:prstGeom>
          <a:solidFill>
            <a:srgbClr val="E2F4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45336"/>
            <a:ext cx="3191256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Прямой конкурент</a:t>
            </a:r>
            <a:br/>
            <a:r>
              <a:t>Fireflies.ai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Meeting intelligence: транскрибация, summary, action items, search, API и интеграции.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2057400"/>
          </a:xfrm>
          <a:prstGeom prst="roundRect">
            <a:avLst/>
          </a:prstGeom>
          <a:solidFill>
            <a:srgbClr val="D9EA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545336"/>
            <a:ext cx="3191256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Косвенный конкурент</a:t>
            </a:r>
            <a:br/>
            <a:r>
              <a:t>Zoom AI Companion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AI-функции внутри ВКС-платформы: meeting summary, smart recording, Q&amp;A, action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520440" cy="2057400"/>
          </a:xfrm>
          <a:prstGeom prst="roundRect">
            <a:avLst/>
          </a:prstGeom>
          <a:solidFill>
            <a:srgbClr val="D9EA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545336"/>
            <a:ext cx="3191256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Косвенный конкурент</a:t>
            </a:r>
            <a:br/>
            <a:r>
              <a:t>Microsoft Copilot in Teams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Корпоративный AI-слой в M365/Teams: recap, action items, Q&amp;A, документы.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023360"/>
            <a:ext cx="40233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2" y="4151376"/>
            <a:ext cx="36941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Альтернатива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Ручной протокол + ручная загрузка данных во внутреннюю базу знаний.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4480560" cy="1097280"/>
          </a:xfrm>
          <a:prstGeom prst="roundRect">
            <a:avLst/>
          </a:prstGeom>
          <a:solidFill>
            <a:srgbClr val="FFF7D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151376"/>
            <a:ext cx="415137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Почему это важно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Для госкомпании альтернатива часто побеждает SaaS по безопасности, но проигрывает по скорости и масштабируемости.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Первый слой анализа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t>Что говорят о себе, функции, цены, плюсы и ограничения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201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43200"/>
                <a:gridCol w="1828800"/>
                <a:gridCol w="2194560"/>
                <a:gridCol w="283464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Продукт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Позиционирование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Цена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Плюсы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Ограничения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Fireflies.ai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AI meeting assistant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от $10/user/mo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search, API, integrations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SaaS, приватность, ASR errors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Zoom AI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AI внутри Zoom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от $8.33/user/mo / paid plans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нативность, summary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экосистема Zoom, cloud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M365 Copilot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AI внутри M365/Teams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$30/user/mo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корп. интеграция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цена, cloud, M365 lock-in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12529"/>
                          </a:solidFill>
                        </a:defRPr>
                      </a:pPr>
                      <a:r>
                        <a:t>Ручной процесс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Без AI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лицензия $0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контроль и безопасность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медленно, не масштабируется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577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Вывод: рынок уже считает нормой transcript + summary + action items + поиск/экспорт. Но для нашего сегмента обязательным становится внутренний контур.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Второй слой анализа: значимые параметры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t>Из функций конкурентов выводим будущие метрики продукта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45720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Норма у конкурентов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Наш стандарт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212529"/>
                          </a:solidFill>
                        </a:defRPr>
                      </a:pPr>
                      <a:r>
                        <a:t>Transcript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есть у всех 3 продуктов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обязательно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212529"/>
                          </a:solidFill>
                        </a:defRPr>
                      </a:pPr>
                      <a:r>
                        <a:t>Summary / action items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есть у всех 3 продуктов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обязательно + проверка человеком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212529"/>
                          </a:solidFill>
                        </a:defRPr>
                      </a:pPr>
                      <a:r>
                        <a:t>Search / Q&amp;A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есть у всех 3 продуктов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через корпоративного ассистента после загрузки в БД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212529"/>
                          </a:solidFill>
                        </a:defRPr>
                      </a:pPr>
                      <a:r>
                        <a:t>API / export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есть у Fireflies, частично у платформ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structured JSON/export обязателен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212529"/>
                          </a:solidFill>
                        </a:defRPr>
                      </a:pPr>
                      <a:r>
                        <a:t>Source timestamps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есть через transcript/recording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≥95% критичных фактов с timestamp/segment_id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212529"/>
                          </a:solidFill>
                        </a:defRPr>
                      </a:pPr>
                      <a:r>
                        <a:t>On-prem/offline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нет полного решения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12529"/>
                          </a:solidFill>
                        </a:defRPr>
                      </a:pPr>
                      <a:r>
                        <a:t>обязательно для целевого сегмента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Минимальные требования к функциональности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Загрузка записи ВКС в форматах mp3/wav/mp4 длительностью до 60 минут.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Распознавание русской речи: базовая модель прототипа — Whisper.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Транскрипт с временными метками и условными спикерами.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Извлечение решений, поручений, ответственных и сроков.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Markdown-мемо для ручной проверки человеком.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Structured JSON/таблица для загрузки в БД корпоративного ассистента.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Запуск внутри закрытого контура: без внешних SaaS-вызовов и передачи данных наружу.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Ключевые конкурентные преимущества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520440" cy="1508760"/>
          </a:xfrm>
          <a:prstGeom prst="roundRect">
            <a:avLst/>
          </a:prstGeom>
          <a:solidFill>
            <a:srgbClr val="E2F4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545336"/>
            <a:ext cx="319125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1. Внутренний контур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Главное отличие от SaaS-конкурентов: данные не покидают инфраструктуру госкомпании.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520440" cy="1508760"/>
          </a:xfrm>
          <a:prstGeom prst="roundRect">
            <a:avLst/>
          </a:prstGeom>
          <a:solidFill>
            <a:srgbClr val="D9EA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7992" y="1545336"/>
            <a:ext cx="319125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2. Structured export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Результат сразу пригоден для БД ассистента: JSON/таблица вместо только текстового summary.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417320"/>
            <a:ext cx="3520440" cy="1508760"/>
          </a:xfrm>
          <a:prstGeom prst="roundRect">
            <a:avLst/>
          </a:prstGeom>
          <a:solidFill>
            <a:srgbClr val="FFF7D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5592" y="1545336"/>
            <a:ext cx="319125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3. Проверяемость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У каждого критичного факта есть timestamp/segment_id — можно быстро проверить источник.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794760"/>
            <a:ext cx="39319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3922776"/>
            <a:ext cx="36027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4. Контроль человеком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Сервис не отправляет мемо автоматически и не загружает факты без проверки в критичных сценариях.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94760"/>
            <a:ext cx="39319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3922776"/>
            <a:ext cx="360273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5. Независимость от ВКС-платформы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Прототип работает с готовой записью, а не требует Zoom/Teams bot и внешних интеграций.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Оптимальная монетизация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1663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545336"/>
            <a:ext cx="48371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У конкурентов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Преимущественно per-user SaaS: $8.33–$30+/user/month в зависимости от продукта и плана.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166360" cy="1645920"/>
          </a:xfrm>
          <a:prstGeom prst="roundRect">
            <a:avLst/>
          </a:prstGeom>
          <a:solidFill>
            <a:srgbClr val="E2F4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545336"/>
            <a:ext cx="483717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Для нашего сегмента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Годовая on-prem лицензия на организацию или серверный инстанс + внедрение и поддержка.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Per-user SaaS плохо подходит компаниям с закрытым контуром и ограничениями на внешний софт.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On-prem лицензия лучше соответствует закупкам, безопасности и инфраструктуре госкомпании.</a:t>
            </a:r>
          </a:p>
          <a:p>
            <a:pPr>
              <a:spcAft>
                <a:spcPts val="800"/>
              </a:spcAft>
              <a:defRPr sz="1750">
                <a:solidFill>
                  <a:srgbClr val="212529"/>
                </a:solidFill>
              </a:defRPr>
            </a:pPr>
            <a:r>
              <a:t>В учебном MVP деньги не измеряются: proxy value — экономия времени и пригодность фактов для БД.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Минимальные бенчмарки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25880"/>
          <a:ext cx="103327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5303520"/>
              </a:tblGrid>
              <a:tr h="560070"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Метрика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Минимум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</a:defRPr>
                      </a:pPr>
                      <a:r>
                        <a:t>Зачем</a:t>
                      </a:r>
                    </a:p>
                  </a:txBody>
                  <a:tcPr marL="36576" marR="36576" marT="27432" marB="27432">
                    <a:solidFill>
                      <a:srgbClr val="1F4E7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212529"/>
                          </a:solidFill>
                        </a:defRPr>
                      </a:pPr>
                      <a:r>
                        <a:t>Recall критичных фактов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≥ 0.80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не пропускать решения и поручения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212529"/>
                          </a:solidFill>
                        </a:defRPr>
                      </a:pPr>
                      <a:r>
                        <a:t>Precision критичных фактов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≥ 0.85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не заносить ложные факты в БД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212529"/>
                          </a:solidFill>
                        </a:defRPr>
                      </a:pPr>
                      <a:r>
                        <a:t>Критичные галлюцинации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≤ 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защитить базу знаний от ложных решений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212529"/>
                          </a:solidFill>
                        </a:defRPr>
                      </a:pPr>
                      <a:r>
                        <a:t>Source traceability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≥ 95%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обеспечить проверку каждого факта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212529"/>
                          </a:solidFill>
                        </a:defRPr>
                      </a:pPr>
                      <a:r>
                        <a:t>Real-Time Factor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≤ 1.0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обрабатывать запись не дольше её длительности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212529"/>
                          </a:solidFill>
                        </a:defRPr>
                      </a:pPr>
                      <a:r>
                        <a:t>Внешние передачи данных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соблюсти требование закрытого контура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212529"/>
                          </a:solidFill>
                        </a:defRPr>
                      </a:pPr>
                      <a:r>
                        <a:t>Готовность к загрузке в БД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≥ 80%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0">
                          <a:solidFill>
                            <a:srgbClr val="212529"/>
                          </a:solidFill>
                        </a:defRPr>
                      </a:pPr>
                      <a:r>
                        <a:t>результат не требует полного переписывания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Итоговые стандарты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789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Продукт должен быть не AI-notetaker, а безопасным ingestion pipeline из ВКС в БД ассистента.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Минимум рынка: transcript + summary + action items + search/export.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Минимум для нашего сегмента: всё вышеперечисленное + on-prem/offline + 0 внешних передач данных.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Ключевой стандарт качества: структурированные факты должны быть точными и проверяемыми по timestamp/segment_id.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Дальнейшие метрики: Recall, Precision, critical hallucinations, source traceability, RTF, доля готовых к БД результатов.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5212080"/>
            <a:ext cx="10149840" cy="685800"/>
          </a:xfrm>
          <a:prstGeom prst="roundRect">
            <a:avLst/>
          </a:prstGeom>
          <a:solidFill>
            <a:srgbClr val="E2F4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5340096"/>
            <a:ext cx="98206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1F4E79"/>
                </a:solidFill>
              </a:defRPr>
            </a:pPr>
            <a:r>
              <a:t>Следующий шаг</a:t>
            </a:r>
          </a:p>
          <a:p>
            <a:pPr>
              <a:lnSpc>
                <a:spcPct val="105000"/>
              </a:lnSpc>
              <a:defRPr sz="1220">
                <a:solidFill>
                  <a:srgbClr val="212529"/>
                </a:solidFill>
              </a:defRPr>
            </a:pPr>
            <a:r>
              <a:t>Проверить прототип на 10 ВКС-записях и посчитать бенчмарки по экспертной разметке.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2B49"/>
                </a:solidFill>
              </a:defRPr>
            </a:pPr>
            <a:r>
              <a:t>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12529"/>
                </a:solidFill>
              </a:defRPr>
            </a:pPr>
            <a:r>
              <a:t>Zoom AI Companion: support.zoom.com, zoom.us/pricing/aic, zoom.com AI Companion Security &amp; Privacy</a:t>
            </a:r>
          </a:p>
          <a:p>
            <a:pPr>
              <a:spcAft>
                <a:spcPts val="800"/>
              </a:spcAft>
              <a:defRPr sz="1550">
                <a:solidFill>
                  <a:srgbClr val="212529"/>
                </a:solidFill>
              </a:defRPr>
            </a:pPr>
            <a:r>
              <a:t>Microsoft: Microsoft 365 Copilot pricing, Microsoft Teams Intelligent Recap, Copilot in Teams support</a:t>
            </a:r>
          </a:p>
          <a:p>
            <a:pPr>
              <a:spcAft>
                <a:spcPts val="800"/>
              </a:spcAft>
              <a:defRPr sz="1550">
                <a:solidFill>
                  <a:srgbClr val="212529"/>
                </a:solidFill>
              </a:defRPr>
            </a:pPr>
            <a:r>
              <a:t>Fireflies.ai: product page, pricing, API docs, integrations</a:t>
            </a:r>
          </a:p>
          <a:p>
            <a:pPr>
              <a:spcAft>
                <a:spcPts val="800"/>
              </a:spcAft>
              <a:defRPr sz="1550">
                <a:solidFill>
                  <a:srgbClr val="212529"/>
                </a:solidFill>
              </a:defRPr>
            </a:pPr>
            <a:r>
              <a:t>User feedback: G2 reviews for Fireflies.ai, Zoom AI Companion, Microsoft Copilot</a:t>
            </a:r>
          </a:p>
          <a:p>
            <a:pPr>
              <a:spcAft>
                <a:spcPts val="800"/>
              </a:spcAft>
              <a:defRPr sz="1550">
                <a:solidFill>
                  <a:srgbClr val="212529"/>
                </a:solidFill>
              </a:defRPr>
            </a:pPr>
            <a:r>
              <a:t>Методика: презентация ИТМО «Бенчмаркинг продукта»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155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MFDP · ДЗ №3 · Бенчмаркинг продукта ·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